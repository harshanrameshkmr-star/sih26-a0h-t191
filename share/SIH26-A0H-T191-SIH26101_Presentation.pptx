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www.biologycorner.com/worksheets/brain-coloring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ebp"/><Relationship Id="rId13" Type="http://schemas.openxmlformats.org/officeDocument/2006/relationships/image" Target="../media/image10.png"/><Relationship Id="rId18" Type="http://schemas.openxmlformats.org/officeDocument/2006/relationships/hyperlink" Target="https://wordpress.tv/2020/11/23/evangelos-dimitriadis-tailwind-css-innerhalb-eines-themes-verwende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s.wikipedia.org/wiki/Archivo:Python-logo-notext.svg" TargetMode="External"/><Relationship Id="rId12" Type="http://schemas.openxmlformats.org/officeDocument/2006/relationships/hyperlink" Target="https://creativecommons.org/licenses/by/3.0/" TargetMode="External"/><Relationship Id="rId17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homouniversalis.tistory.com/1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hyperlink" Target="https://nozzi-study.tistory.com/61" TargetMode="Externa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5.jpeg"/><Relationship Id="rId9" Type="http://schemas.openxmlformats.org/officeDocument/2006/relationships/hyperlink" Target="https://www.indiatvnews.com/technology/news/gemini-to-become-default-ai-assistant-on-android-from-september-2026-google-assistant-to-shut-down-2026-08-06-1050525" TargetMode="External"/><Relationship Id="rId14" Type="http://schemas.openxmlformats.org/officeDocument/2006/relationships/hyperlink" Target="https://vennycode.tistory.com/5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www.psychometrics.org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spi.gov.in/" TargetMode="External"/><Relationship Id="rId5" Type="http://schemas.openxmlformats.org/officeDocument/2006/relationships/hyperlink" Target="https://cbc.gov.in/" TargetMode="External"/><Relationship Id="rId4" Type="http://schemas.openxmlformats.org/officeDocument/2006/relationships/hyperlink" Target="https://igotkarmayog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50798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35372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30025"/>
            <a:ext cx="6523605" cy="526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Develop an AI enabled learning platform that identifies competency gaps, recommends personalized training through integration with the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iGOT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Karmayogi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ecosystem, and capable of generating Quizzes and Multiple choice questions (MCQs) from uploaded learning materials to strengthen capacity building in India's Official Statistical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 – SIH26-A0H-T191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Jaguar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064" y="243249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STXihei" panose="02010600040101010101" pitchFamily="2" charset="-122"/>
                <a:ea typeface="STXihei" panose="02010600040101010101" pitchFamily="2" charset="-122"/>
                <a:cs typeface="Times New Roman" panose="02020603050405020304" pitchFamily="18" charset="0"/>
              </a:rPr>
              <a:t>AI-Enabled Learning Platform &amp; </a:t>
            </a:r>
            <a:r>
              <a:rPr lang="en-US" sz="2200" b="1" dirty="0" err="1">
                <a:latin typeface="STXihei" panose="02010600040101010101" pitchFamily="2" charset="-122"/>
                <a:ea typeface="STXihei" panose="02010600040101010101" pitchFamily="2" charset="-122"/>
                <a:cs typeface="Times New Roman" panose="02020603050405020304" pitchFamily="18" charset="0"/>
              </a:rPr>
              <a:t>iGOT</a:t>
            </a:r>
            <a:r>
              <a:rPr lang="en-US" sz="2200" b="1" dirty="0">
                <a:latin typeface="STXihei" panose="02010600040101010101" pitchFamily="2" charset="-122"/>
                <a:ea typeface="STXihei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STXihei" panose="02010600040101010101" pitchFamily="2" charset="-122"/>
                <a:ea typeface="STXihei" panose="02010600040101010101" pitchFamily="2" charset="-122"/>
                <a:cs typeface="Times New Roman" panose="02020603050405020304" pitchFamily="18" charset="0"/>
              </a:rPr>
              <a:t>Karmayogi</a:t>
            </a:r>
            <a:r>
              <a:rPr lang="en-US" sz="2200" b="1" dirty="0">
                <a:latin typeface="STXihei" panose="02010600040101010101" pitchFamily="2" charset="-122"/>
                <a:ea typeface="STXihei" panose="02010600040101010101" pitchFamily="2" charset="-122"/>
                <a:cs typeface="Times New Roman" panose="02020603050405020304" pitchFamily="18" charset="0"/>
              </a:rPr>
              <a:t> Integration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6349" y="1088209"/>
            <a:ext cx="8388348" cy="832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Proposed Solution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:</a:t>
            </a:r>
            <a:endParaRPr lang="en-US" sz="2400" b="1" u="sng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342900" indent="-342900">
              <a:lnSpc>
                <a:spcPct val="150000"/>
              </a:lnSpc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Idea: Smart FRAC Mapping Engine: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 intelligent AI recommendation engine built on top of </a:t>
            </a:r>
            <a:r>
              <a:rPr lang="en-US" sz="1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iGOT</a:t>
            </a:r>
            <a:r>
              <a:rPr lang="en-US" sz="1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Karmayogi</a:t>
            </a:r>
            <a:r>
              <a:rPr lang="en-US" sz="1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that dynamically maps individual civil servant profiles to official post requirements using the Framework of Roles, Activities, and Competencies (FRACs), Official statistical system (OSS) and GenAI.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0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u="sng" dirty="0">
              <a:solidFill>
                <a:schemeClr val="tx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pperplate Gothic Light" panose="020E0507020206020404" pitchFamily="34" charset="0"/>
              </a:rPr>
              <a:t>Jaguar</a:t>
            </a:r>
            <a:endParaRPr lang="en-IN" dirty="0">
              <a:latin typeface="Copperplate Gothic Light" panose="020E05070202060204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25872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4F2A75-F74E-52F1-69A1-7831CC4DEB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30" t="25154" r="1330" b="1653"/>
          <a:stretch>
            <a:fillRect/>
          </a:stretch>
        </p:blipFill>
        <p:spPr>
          <a:xfrm>
            <a:off x="95282" y="2887379"/>
            <a:ext cx="6154918" cy="2044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8B3873-ED96-5433-8766-A7127E60984F}"/>
              </a:ext>
            </a:extLst>
          </p:cNvPr>
          <p:cNvSpPr txBox="1"/>
          <p:nvPr/>
        </p:nvSpPr>
        <p:spPr>
          <a:xfrm>
            <a:off x="6409455" y="2887379"/>
            <a:ext cx="5866638" cy="212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Our Solution Works: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analyzes employee skill gaps in real time, auto-curates personalized micro-learning paths, and generates a Role-Fitness Index (RFI) to assist administrative leaders in meritocratic work allocation and become a better civil servant serving the public administration.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2179B-1C28-8A25-C517-05743C11E67B}"/>
              </a:ext>
            </a:extLst>
          </p:cNvPr>
          <p:cNvSpPr txBox="1"/>
          <p:nvPr/>
        </p:nvSpPr>
        <p:spPr>
          <a:xfrm>
            <a:off x="72378" y="4790985"/>
            <a:ext cx="11420335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&amp; Innovation: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static portal catalogs, our solution introduces Predictive Capacity Building—shifting governance from reactive annual training to automated, continuous, role-based competency readiness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334201"/>
            <a:ext cx="5303253" cy="3774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Tools used: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Front-end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React.js,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Streamlit</a:t>
            </a:r>
            <a:r>
              <a:rPr lang="en-US" dirty="0">
                <a:latin typeface="Arial" pitchFamily="34" charset="0"/>
                <a:cs typeface="Arial" pitchFamily="34" charset="0"/>
              </a:rPr>
              <a:t> (Python), Angular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Back-end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MySQL,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FastAPI</a:t>
            </a:r>
            <a:r>
              <a:rPr lang="en-US" dirty="0">
                <a:latin typeface="Arial" pitchFamily="34" charset="0"/>
                <a:cs typeface="Arial" pitchFamily="34" charset="0"/>
              </a:rPr>
              <a:t>, Pandas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Vector DB &amp; Search (RAG):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ChromaDB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GenAI &amp; Quiz Engine</a:t>
            </a:r>
            <a:r>
              <a:rPr lang="en-US" sz="2400" dirty="0">
                <a:solidFill>
                  <a:schemeClr val="tx2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Google Gemini API,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pytorch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Ollama</a:t>
            </a:r>
            <a:r>
              <a:rPr lang="en-US" dirty="0">
                <a:latin typeface="Arial" pitchFamily="34" charset="0"/>
                <a:cs typeface="Arial" pitchFamily="34" charset="0"/>
              </a:rPr>
              <a:t> and a Quantized Llama 3 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pperplate Gothic Light" panose="020E0507020206020404" pitchFamily="34" charset="0"/>
              </a:rPr>
              <a:t>Jaguar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60038B-E7D5-1FF0-2B28-98CB3A2D6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695" y="1153127"/>
            <a:ext cx="6966303" cy="41190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1466A8E-0390-E012-8565-7B79EEEF94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058525" y="5263537"/>
            <a:ext cx="1047750" cy="1047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FF4AEC-FA06-4733-511F-8DCC78D568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143998" y="5343945"/>
            <a:ext cx="1544321" cy="868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0DF51A-8989-46A5-C484-072344AC3B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t="31636" b="39479"/>
          <a:stretch>
            <a:fillRect/>
          </a:stretch>
        </p:blipFill>
        <p:spPr>
          <a:xfrm>
            <a:off x="7072632" y="5526666"/>
            <a:ext cx="1985643" cy="503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96E9AF-8B8A-6503-E9F6-6524698A5FC6}"/>
              </a:ext>
            </a:extLst>
          </p:cNvPr>
          <p:cNvSpPr txBox="1"/>
          <p:nvPr/>
        </p:nvSpPr>
        <p:spPr>
          <a:xfrm>
            <a:off x="5808167" y="11259347"/>
            <a:ext cx="69610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1" tooltip="https://nozzi-study.tistory.com/61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12" tooltip="https://creativecommons.org/licenses/by/3.0/"/>
              </a:rPr>
              <a:t>CC BY</a:t>
            </a:r>
            <a:endParaRPr lang="en-IN" sz="9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8A5DB4-0380-D77C-779F-CDB394EF65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5319381" y="5196821"/>
            <a:ext cx="1769857" cy="9121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1CACD7-7D83-DFAA-A0EA-5642968554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3227155" y="5169378"/>
            <a:ext cx="1722020" cy="10063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9E8488-2A3A-56DE-E001-0B969D8151F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837473B0-CC2E-450A-ABE3-18F120FF3D39}">
                <a1611:picAttrSrcUrl xmlns:a1611="http://schemas.microsoft.com/office/drawing/2016/11/main" r:id="rId18"/>
              </a:ext>
            </a:extLst>
          </a:blip>
          <a:srcRect l="22249" t="29421" r="13789" b="46292"/>
          <a:stretch>
            <a:fillRect/>
          </a:stretch>
        </p:blipFill>
        <p:spPr>
          <a:xfrm>
            <a:off x="288391" y="5509333"/>
            <a:ext cx="2807367" cy="599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39067" y="1165402"/>
            <a:ext cx="11343333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</a:rPr>
              <a:t>Feasibility Analysis: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Technical Feasibility:</a:t>
            </a:r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Built using robust open-source LLMs, standard microservices, and established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iGOT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API standards.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Operational Feasibility:</a:t>
            </a:r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Aligns directly with National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Programme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Civil Services Capacity Building (Mission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Karmayogi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) mandate.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Financial Viability:</a:t>
            </a:r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Uses open-weight local models 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e.g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Llama 3), reducing API token costs by 85%.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u="sng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Potential Challenges: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400" u="sng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u="sng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pperplate Gothic Light" panose="020E0507020206020404" pitchFamily="34" charset="0"/>
              </a:rPr>
              <a:t>Jaguar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299F34-1E80-D0A4-D9E7-9589AED05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71686"/>
              </p:ext>
            </p:extLst>
          </p:nvPr>
        </p:nvGraphicFramePr>
        <p:xfrm>
          <a:off x="609600" y="3312155"/>
          <a:ext cx="10414959" cy="2702560"/>
        </p:xfrm>
        <a:graphic>
          <a:graphicData uri="http://schemas.openxmlformats.org/drawingml/2006/table">
            <a:tbl>
              <a:tblPr/>
              <a:tblGrid>
                <a:gridCol w="3471653">
                  <a:extLst>
                    <a:ext uri="{9D8B030D-6E8A-4147-A177-3AD203B41FA5}">
                      <a16:colId xmlns:a16="http://schemas.microsoft.com/office/drawing/2014/main" val="4043049336"/>
                    </a:ext>
                  </a:extLst>
                </a:gridCol>
                <a:gridCol w="3471653">
                  <a:extLst>
                    <a:ext uri="{9D8B030D-6E8A-4147-A177-3AD203B41FA5}">
                      <a16:colId xmlns:a16="http://schemas.microsoft.com/office/drawing/2014/main" val="3273222178"/>
                    </a:ext>
                  </a:extLst>
                </a:gridCol>
                <a:gridCol w="3471653">
                  <a:extLst>
                    <a:ext uri="{9D8B030D-6E8A-4147-A177-3AD203B41FA5}">
                      <a16:colId xmlns:a16="http://schemas.microsoft.com/office/drawing/2014/main" val="1864658455"/>
                    </a:ext>
                  </a:extLst>
                </a:gridCol>
              </a:tblGrid>
              <a:tr h="264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Challenge / Risk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Why It Matters (Impact)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Our Mitigation Strategy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65509"/>
                  </a:ext>
                </a:extLst>
              </a:tr>
              <a:tr h="604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b="1" dirty="0">
                          <a:effectLst/>
                          <a:latin typeface="Google Sans Text"/>
                        </a:rPr>
                        <a:t>1. AI Hallucination in MCQs</a:t>
                      </a:r>
                      <a:endParaRPr lang="it-IT" sz="12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Google Sans Text"/>
                        </a:rPr>
                        <a:t>Wrong statistical formulas or incorrect answer keys generated.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Google Sans Text"/>
                        </a:rPr>
                        <a:t>Strict RAG Grounding:</a:t>
                      </a:r>
                      <a:r>
                        <a:rPr lang="en-US" sz="1200" dirty="0">
                          <a:effectLst/>
                          <a:latin typeface="Google Sans Text"/>
                        </a:rPr>
                        <a:t> Every question cites its exact source manual paragraph + Expert human-in-the-loop review.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779901"/>
                  </a:ext>
                </a:extLst>
              </a:tr>
              <a:tr h="43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Google Sans Text"/>
                        </a:rPr>
                        <a:t>2. Diverse Cadre Skill Levels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Google Sans Text"/>
                        </a:rPr>
                        <a:t>Field surveyors need basics; senior ISS officers need complex econometrics.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Google Sans Text"/>
                        </a:rPr>
                        <a:t>Dynamic FRAC Mapping: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Questions automatically scale in difficulty based on official officer designation.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407119"/>
                  </a:ext>
                </a:extLst>
              </a:tr>
              <a:tr h="604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Google Sans Text"/>
                        </a:rPr>
                        <a:t>3. Data Privacy &amp; Security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Google Sans Text"/>
                        </a:rPr>
                        <a:t>Risk of exposing internal government performance and assessment data.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Google Sans Text"/>
                        </a:rPr>
                        <a:t>Air-Gapped Deployment:</a:t>
                      </a:r>
                      <a:r>
                        <a:rPr lang="en-US" sz="1200" dirty="0">
                          <a:effectLst/>
                          <a:latin typeface="Google Sans Text"/>
                        </a:rPr>
                        <a:t> Runs on-premise or on MeghRaj Cloud with local quantized models—zero data sent to external APIs.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803858"/>
                  </a:ext>
                </a:extLst>
              </a:tr>
              <a:tr h="604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4. Low Field Connectivity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Google Sans Text"/>
                        </a:rPr>
                        <a:t>Rural survey staff cannot access online tests due to bad network.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Offline PWA Engine:</a:t>
                      </a:r>
                      <a:r>
                        <a:rPr lang="en-IN" sz="1200" dirty="0">
                          <a:effectLst/>
                          <a:latin typeface="Google Sans Text"/>
                        </a:rPr>
                        <a:t> Progressive Web App allows downloading quizzes offline and syncing results automatically later.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921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596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pperplate Gothic Light" panose="020E0507020206020404" pitchFamily="34" charset="0"/>
              </a:rPr>
              <a:t>Jaguar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4F747-C983-7AA7-12AA-BBAB6E77B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6743"/>
              </p:ext>
            </p:extLst>
          </p:nvPr>
        </p:nvGraphicFramePr>
        <p:xfrm>
          <a:off x="329772" y="1137038"/>
          <a:ext cx="5872620" cy="4888240"/>
        </p:xfrm>
        <a:graphic>
          <a:graphicData uri="http://schemas.openxmlformats.org/drawingml/2006/table">
            <a:tbl>
              <a:tblPr/>
              <a:tblGrid>
                <a:gridCol w="2936310">
                  <a:extLst>
                    <a:ext uri="{9D8B030D-6E8A-4147-A177-3AD203B41FA5}">
                      <a16:colId xmlns:a16="http://schemas.microsoft.com/office/drawing/2014/main" val="3413999103"/>
                    </a:ext>
                  </a:extLst>
                </a:gridCol>
                <a:gridCol w="2936310">
                  <a:extLst>
                    <a:ext uri="{9D8B030D-6E8A-4147-A177-3AD203B41FA5}">
                      <a16:colId xmlns:a16="http://schemas.microsoft.com/office/drawing/2014/main" val="2939234450"/>
                    </a:ext>
                  </a:extLst>
                </a:gridCol>
              </a:tblGrid>
              <a:tr h="273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Social &amp; Institutional Benefits</a:t>
                      </a:r>
                      <a:endParaRPr lang="en-IN" sz="14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Impact on Target Audience</a:t>
                      </a:r>
                      <a:endParaRPr lang="en-IN" sz="1400" dirty="0">
                        <a:solidFill>
                          <a:srgbClr val="00B050"/>
                        </a:solidFill>
                        <a:effectLst/>
                        <a:latin typeface="Google Sans Text"/>
                      </a:endParaRP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13867"/>
                  </a:ext>
                </a:extLst>
              </a:tr>
              <a:tr h="1064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Data Quality for Governance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Higher precision in field surveys directly improves national GDP, CPI, and IIP statistical accuracy.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Field Officers &amp; Surveyors (SSS/NSSO)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Precision micro-learning replaces generic training, delivering skills tailored to immediate survey duties.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423470"/>
                  </a:ext>
                </a:extLst>
              </a:tr>
              <a:tr h="1064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Viksit Bharat @2047 Mandate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Strengthens evidence-based policymaking across all central and state government ministries.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Statistical Officers (ISS Cadre)</a:t>
                      </a:r>
                      <a:br>
                        <a:rPr lang="en-US" sz="1400" dirty="0">
                          <a:effectLst/>
                          <a:latin typeface="Google Sans Text"/>
                        </a:rPr>
                      </a:b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Advanced econometric and analytical competency paths support continuous professional development.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83482"/>
                  </a:ext>
                </a:extLst>
              </a:tr>
              <a:tr h="1064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Mission </a:t>
                      </a:r>
                      <a:r>
                        <a:rPr lang="en-US" sz="1400" b="1" dirty="0" err="1">
                          <a:effectLst/>
                          <a:latin typeface="Google Sans Text"/>
                        </a:rPr>
                        <a:t>Karmayogi</a:t>
                      </a:r>
                      <a:r>
                        <a:rPr lang="en-US" sz="1400" b="1" dirty="0">
                          <a:effectLst/>
                          <a:latin typeface="Google Sans Text"/>
                        </a:rPr>
                        <a:t> Alignment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Accelerates the national transition from "Rule-based" to outcome-driven "Role-based" civil service.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Trainers &amp; Internal Evaluators</a:t>
                      </a:r>
                      <a:br>
                        <a:rPr lang="en-US" sz="1400" dirty="0">
                          <a:effectLst/>
                          <a:latin typeface="Google Sans Text"/>
                        </a:rPr>
                      </a:b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RAG-driven item generation cuts assessment preparation time from weeks to seconds.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27376"/>
                  </a:ext>
                </a:extLst>
              </a:tr>
              <a:tr h="1064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Public Resource Efficiency</a:t>
                      </a:r>
                      <a:br>
                        <a:rPr lang="en-US" sz="1400" dirty="0">
                          <a:effectLst/>
                          <a:latin typeface="Google Sans Text"/>
                        </a:rPr>
                      </a:b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Reduces physical workshop costs by replacing outdated schedules with dynamic digital learning.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Google Sans Text"/>
                        </a:rPr>
                        <a:t>Career Growth &amp; HR Transparency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US" sz="14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Objective competency diagnostic scores integrate directly into APAR performance reviews.</a:t>
                      </a:r>
                    </a:p>
                  </a:txBody>
                  <a:tcPr marL="61152" marR="61152" marT="40768" marB="40768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8170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86816B0-8D7F-6B8E-BC66-BE99C79FCD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22" t="3314" r="3029" b="8868"/>
          <a:stretch>
            <a:fillRect/>
          </a:stretch>
        </p:blipFill>
        <p:spPr>
          <a:xfrm>
            <a:off x="6202392" y="1696431"/>
            <a:ext cx="5872620" cy="34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217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pperplate Gothic Light" panose="020E0507020206020404" pitchFamily="34" charset="0"/>
              </a:rPr>
              <a:t>Jaguar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E50D11-93E4-8A6F-9574-43D477F03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1638"/>
              </p:ext>
            </p:extLst>
          </p:nvPr>
        </p:nvGraphicFramePr>
        <p:xfrm>
          <a:off x="609599" y="1784173"/>
          <a:ext cx="10972802" cy="3546949"/>
        </p:xfrm>
        <a:graphic>
          <a:graphicData uri="http://schemas.openxmlformats.org/drawingml/2006/table">
            <a:tbl>
              <a:tblPr/>
              <a:tblGrid>
                <a:gridCol w="5486401">
                  <a:extLst>
                    <a:ext uri="{9D8B030D-6E8A-4147-A177-3AD203B41FA5}">
                      <a16:colId xmlns:a16="http://schemas.microsoft.com/office/drawing/2014/main" val="1372331369"/>
                    </a:ext>
                  </a:extLst>
                </a:gridCol>
                <a:gridCol w="5486401">
                  <a:extLst>
                    <a:ext uri="{9D8B030D-6E8A-4147-A177-3AD203B41FA5}">
                      <a16:colId xmlns:a16="http://schemas.microsoft.com/office/drawing/2014/main" val="657624803"/>
                    </a:ext>
                  </a:extLst>
                </a:gridCol>
              </a:tblGrid>
              <a:tr h="54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Mission Karmayogi (iGOT Platform)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  <a:hlinkClick r:id="rId4"/>
                        </a:rPr>
                        <a:t>igotkarmayogi.gov.in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061555"/>
                  </a:ext>
                </a:extLst>
              </a:tr>
              <a:tr h="54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Capacity Building Commission (CBC) - FRAC Framework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  <a:hlinkClick r:id="rId5"/>
                        </a:rPr>
                        <a:t>cbc.gov.in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689719"/>
                  </a:ext>
                </a:extLst>
              </a:tr>
              <a:tr h="949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Ministry of Statistics and Programme Implementation (MoSPI)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  <a:hlinkClick r:id="rId6"/>
                        </a:rPr>
                        <a:t>mospi.gov.in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929158"/>
                  </a:ext>
                </a:extLst>
              </a:tr>
              <a:tr h="949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Retrieval-Augmented Generation (RAG Paper - Lewis et al.)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  <a:hlinkClick r:id="rId7"/>
                        </a:rPr>
                        <a:t>arxiv.org/abs/2005.11401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730908"/>
                  </a:ext>
                </a:extLst>
              </a:tr>
              <a:tr h="54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Item Response Theory (IRT Standard Guidelines)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  <a:hlinkClick r:id="rId8"/>
                        </a:rPr>
                        <a:t>psychometrics.org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82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8400</TotalTime>
  <Words>759</Words>
  <Application>Microsoft Office PowerPoint</Application>
  <PresentationFormat>Widescreen</PresentationFormat>
  <Paragraphs>116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STXihei</vt:lpstr>
      <vt:lpstr>Aharoni</vt:lpstr>
      <vt:lpstr>Arial</vt:lpstr>
      <vt:lpstr>Arial Black</vt:lpstr>
      <vt:lpstr>Calibri</vt:lpstr>
      <vt:lpstr>Copperplate Gothic Light</vt:lpstr>
      <vt:lpstr>Dubai Medium</vt:lpstr>
      <vt:lpstr>Garamond</vt:lpstr>
      <vt:lpstr>Google Sans Text</vt:lpstr>
      <vt:lpstr>Times New Roman</vt:lpstr>
      <vt:lpstr>TradeGothic</vt:lpstr>
      <vt:lpstr>Wingdings</vt:lpstr>
      <vt:lpstr>Office Theme</vt:lpstr>
      <vt:lpstr>SMART INDIA HACKATHON 2026</vt:lpstr>
      <vt:lpstr>AI-Enabled Learning Platform &amp; iGOT Karmayogi Integration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Advaith Sethunath</cp:lastModifiedBy>
  <cp:revision>150</cp:revision>
  <dcterms:created xsi:type="dcterms:W3CDTF">2013-12-12T18:46:50Z</dcterms:created>
  <dcterms:modified xsi:type="dcterms:W3CDTF">2026-08-30T09:24:44Z</dcterms:modified>
  <cp:category/>
</cp:coreProperties>
</file>